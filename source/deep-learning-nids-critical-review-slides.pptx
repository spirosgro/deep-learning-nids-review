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cd06710664619" /><Relationship Type="http://schemas.openxmlformats.org/officeDocument/2006/relationships/extended-properties" Target="/docProps/app.xml" Id="Rb8b44852745f4a02" /><Relationship Type="http://schemas.openxmlformats.org/officeDocument/2006/relationships/officeDocument" Target="/ppt/presentation.xml" Id="Rf97e3ce42d57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7419e5c3d447a"/>
  </p:sldMasterIdLst>
  <p:notesMasterIdLst>
    <p:notesMasterId xmlns:r="http://schemas.openxmlformats.org/officeDocument/2006/relationships" r:id="R487612f2d2944765"/>
  </p:notesMasterIdLst>
  <p:sldIdLst>
    <p:sldId xmlns:r="http://schemas.openxmlformats.org/officeDocument/2006/relationships" id="256" r:id="Re07217dbfc3f44b8"/>
    <p:sldId xmlns:r="http://schemas.openxmlformats.org/officeDocument/2006/relationships" id="257" r:id="Re57524093f6e42b9"/>
    <p:sldId xmlns:r="http://schemas.openxmlformats.org/officeDocument/2006/relationships" id="258" r:id="R2a408ed0c1ff4f37"/>
    <p:sldId xmlns:r="http://schemas.openxmlformats.org/officeDocument/2006/relationships" id="259" r:id="R3d29e21da6344d4a"/>
    <p:sldId xmlns:r="http://schemas.openxmlformats.org/officeDocument/2006/relationships" id="260" r:id="R9ad8d7e701004658"/>
    <p:sldId xmlns:r="http://schemas.openxmlformats.org/officeDocument/2006/relationships" id="261" r:id="R4bdcf807e7a64971"/>
    <p:sldId xmlns:r="http://schemas.openxmlformats.org/officeDocument/2006/relationships" id="262" r:id="Reb08a159e4104500"/>
    <p:sldId xmlns:r="http://schemas.openxmlformats.org/officeDocument/2006/relationships" id="263" r:id="Rca48f5dc73af45a7"/>
    <p:sldId xmlns:r="http://schemas.openxmlformats.org/officeDocument/2006/relationships" id="264" r:id="R9ede0adba0c24be2"/>
    <p:sldId xmlns:r="http://schemas.openxmlformats.org/officeDocument/2006/relationships" id="265" r:id="R958ed9a4e93e456f"/>
    <p:sldId xmlns:r="http://schemas.openxmlformats.org/officeDocument/2006/relationships" id="266" r:id="R43c101d8ad774ac2"/>
    <p:sldId xmlns:r="http://schemas.openxmlformats.org/officeDocument/2006/relationships" id="267" r:id="Ra1b6f3b3aa5949d7"/>
    <p:sldId xmlns:r="http://schemas.openxmlformats.org/officeDocument/2006/relationships" id="268" r:id="Reb424febfca244e4"/>
    <p:sldId xmlns:r="http://schemas.openxmlformats.org/officeDocument/2006/relationships" id="269" r:id="Rf9d28a4b83194b4d"/>
    <p:sldId xmlns:r="http://schemas.openxmlformats.org/officeDocument/2006/relationships" id="270" r:id="Rc3ca63c781c942f0"/>
    <p:sldId xmlns:r="http://schemas.openxmlformats.org/officeDocument/2006/relationships" id="271" r:id="R071d01dcaddb4d0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daa5fb3ca140ce" /><Relationship Type="http://schemas.openxmlformats.org/officeDocument/2006/relationships/slideMaster" Target="/ppt/slideMasters/slideMaster1.xml" Id="R6907419e5c3d447a" /><Relationship Type="http://schemas.openxmlformats.org/officeDocument/2006/relationships/notesMaster" Target="/ppt/notesMasters/notesMaster1.xml" Id="R487612f2d2944765" /><Relationship Type="http://schemas.openxmlformats.org/officeDocument/2006/relationships/presProps" Target="/ppt/presProps.xml" Id="Rdacc4e2e7e794ca0" /><Relationship Type="http://schemas.openxmlformats.org/officeDocument/2006/relationships/viewProps" Target="/ppt/viewProps.xml" Id="R4f36c185404949f8" /><Relationship Type="http://schemas.openxmlformats.org/officeDocument/2006/relationships/tableStyles" Target="/ppt/tableStyles.xml" Id="Ra4d98a8616c945fd" /><Relationship Type="http://schemas.openxmlformats.org/officeDocument/2006/relationships/slide" Target="/ppt/slides/slide1.xml" Id="Re07217dbfc3f44b8" /><Relationship Type="http://schemas.openxmlformats.org/officeDocument/2006/relationships/slide" Target="/ppt/slides/slide2.xml" Id="Re57524093f6e42b9" /><Relationship Type="http://schemas.openxmlformats.org/officeDocument/2006/relationships/slide" Target="/ppt/slides/slide3.xml" Id="R2a408ed0c1ff4f37" /><Relationship Type="http://schemas.openxmlformats.org/officeDocument/2006/relationships/slide" Target="/ppt/slides/slide4.xml" Id="R3d29e21da6344d4a" /><Relationship Type="http://schemas.openxmlformats.org/officeDocument/2006/relationships/slide" Target="/ppt/slides/slide5.xml" Id="R9ad8d7e701004658" /><Relationship Type="http://schemas.openxmlformats.org/officeDocument/2006/relationships/slide" Target="/ppt/slides/slide6.xml" Id="R4bdcf807e7a64971" /><Relationship Type="http://schemas.openxmlformats.org/officeDocument/2006/relationships/slide" Target="/ppt/slides/slide7.xml" Id="Reb08a159e4104500" /><Relationship Type="http://schemas.openxmlformats.org/officeDocument/2006/relationships/slide" Target="/ppt/slides/slide8.xml" Id="Rca48f5dc73af45a7" /><Relationship Type="http://schemas.openxmlformats.org/officeDocument/2006/relationships/slide" Target="/ppt/slides/slide9.xml" Id="R9ede0adba0c24be2" /><Relationship Type="http://schemas.openxmlformats.org/officeDocument/2006/relationships/slide" Target="/ppt/slides/slide10.xml" Id="R958ed9a4e93e456f" /><Relationship Type="http://schemas.openxmlformats.org/officeDocument/2006/relationships/slide" Target="/ppt/slides/slide11.xml" Id="R43c101d8ad774ac2" /><Relationship Type="http://schemas.openxmlformats.org/officeDocument/2006/relationships/slide" Target="/ppt/slides/slide12.xml" Id="Ra1b6f3b3aa5949d7" /><Relationship Type="http://schemas.openxmlformats.org/officeDocument/2006/relationships/slide" Target="/ppt/slides/slide13.xml" Id="Reb424febfca244e4" /><Relationship Type="http://schemas.openxmlformats.org/officeDocument/2006/relationships/slide" Target="/ppt/slides/slide14.xml" Id="Rf9d28a4b83194b4d" /><Relationship Type="http://schemas.openxmlformats.org/officeDocument/2006/relationships/slide" Target="/ppt/slides/slide15.xml" Id="Rc3ca63c781c942f0" /><Relationship Type="http://schemas.openxmlformats.org/officeDocument/2006/relationships/slide" Target="/ppt/slides/slide16.xml" Id="R071d01dcaddb4d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ca3fd16bb4c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789922c0924b63" /><Relationship Type="http://schemas.openxmlformats.org/officeDocument/2006/relationships/notesMaster" Target="/ppt/notesMasters/notesMaster1.xml" Id="Rbb748a27009d41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3f3ba7d824acc" /><Relationship Type="http://schemas.openxmlformats.org/officeDocument/2006/relationships/notesMaster" Target="/ppt/notesMasters/notesMaster1.xml" Id="Rc620e9469d28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dd74c9d8c94271" /><Relationship Type="http://schemas.openxmlformats.org/officeDocument/2006/relationships/notesMaster" Target="/ppt/notesMasters/notesMaster1.xml" Id="R896ed79abf7146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7d5e150f854b1c" /><Relationship Type="http://schemas.openxmlformats.org/officeDocument/2006/relationships/notesMaster" Target="/ppt/notesMasters/notesMaster1.xml" Id="Raf74a4cc6a8540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1474464c424610" /><Relationship Type="http://schemas.openxmlformats.org/officeDocument/2006/relationships/notesMaster" Target="/ppt/notesMasters/notesMaster1.xml" Id="R08d8ee52b56b49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e33b72cddb47fd" /><Relationship Type="http://schemas.openxmlformats.org/officeDocument/2006/relationships/notesMaster" Target="/ppt/notesMasters/notesMaster1.xml" Id="R1f604263870c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69176b565944a9" /><Relationship Type="http://schemas.openxmlformats.org/officeDocument/2006/relationships/notesMaster" Target="/ppt/notesMasters/notesMaster1.xml" Id="R626375d99fd943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0e636210e64f54" /><Relationship Type="http://schemas.openxmlformats.org/officeDocument/2006/relationships/notesMaster" Target="/ppt/notesMasters/notesMaster1.xml" Id="R649dabeadba647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f6fa2c6a9c4257" /><Relationship Type="http://schemas.openxmlformats.org/officeDocument/2006/relationships/notesMaster" Target="/ppt/notesMasters/notesMaster1.xml" Id="R2bad2a46314644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d8b2d36a2d448b" /><Relationship Type="http://schemas.openxmlformats.org/officeDocument/2006/relationships/notesMaster" Target="/ppt/notesMasters/notesMaster1.xml" Id="R42e13e2243ad46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8b002d728f4cd7" /><Relationship Type="http://schemas.openxmlformats.org/officeDocument/2006/relationships/notesMaster" Target="/ppt/notesMasters/notesMaster1.xml" Id="Rcb610869df6346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8b96fe1ebd4353" /><Relationship Type="http://schemas.openxmlformats.org/officeDocument/2006/relationships/notesMaster" Target="/ppt/notesMasters/notesMaster1.xml" Id="R313169c21ccf41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98cd242f9f465b" /><Relationship Type="http://schemas.openxmlformats.org/officeDocument/2006/relationships/notesMaster" Target="/ppt/notesMasters/notesMaster1.xml" Id="Rb2c962e680a147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e06bf2dd08429c" /><Relationship Type="http://schemas.openxmlformats.org/officeDocument/2006/relationships/notesMaster" Target="/ppt/notesMasters/notesMaster1.xml" Id="Rce68172fb33e47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6ebaee1d4b4142" /><Relationship Type="http://schemas.openxmlformats.org/officeDocument/2006/relationships/notesMaster" Target="/ppt/notesMasters/notesMaster1.xml" Id="Rf8b66899057746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aa533d107f4f8c" /><Relationship Type="http://schemas.openxmlformats.org/officeDocument/2006/relationships/notesMaster" Target="/ppt/notesMasters/notesMaster1.xml" Id="Rf8eece8ae82c48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IBM, Cost of a Data Breach Report 2024; Anis et al., IEEE Access 2025, DOI 10.1109/ACCESS.2025.3624952. The encryption share is presented as context and should be interpreted as an industry estimate rather than a universal measurement.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McMahan et al., AISTATS 2017; Anis et al., IEEE Access 2025. Federated learning reduces centralized raw-data sharing but does not by itself guarantee privacy, security, GDPR compliance or HIPAA compliance.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Anis et al., IEEE Access 2025; Sharafaldin et al., ICISSP 2018; Moustafa and Slay, MilCIS 2015; Sommer and Paxson, IEEE S&amp;P 2010.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edge-to-server SOC architecture is the authors' deployment interpretation of the surveyed evidence. It was not implemented or benchmarked as part of this course project.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comparison table and related-work discussion in Anis et al., IEEE Access 2025. Coverage labels summarize the reviewed survey and should not be treated as an independent systematic search.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Critical interpretation by the course-project authors. The survey includes adversarial attack generation, including SGAN-IDS, but does not provide a unified robustness benchmark or systematic defense comparison.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of the course-project authors. The work is a critical literature review and does not claim an independently implemented or experimentally validated NIDS model.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references for the critical review. DOI links and source URLs are also listed in the repository references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references for the critical review. DOI links and source URLs are also listed in the repository references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eb27a0eb04d2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2f81ea1524a61" /><Relationship Type="http://schemas.openxmlformats.org/officeDocument/2006/relationships/slideLayout" Target="/ppt/slideLayouts/slideLayout1.xml" Id="R016ef47ad9fa4d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ef47ad9fa4d6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5fededc25481e" /><Relationship Type="http://schemas.openxmlformats.org/officeDocument/2006/relationships/notesSlide" Target="/ppt/notesSlides/notesSlide1.xml" Id="R7f4b94fd09d0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19c7b9b2e4e1c" /><Relationship Type="http://schemas.openxmlformats.org/officeDocument/2006/relationships/notesSlide" Target="/ppt/notesSlides/notesSlide2.xml" Id="R8a18226f7ed7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b907a6c13487b" /><Relationship Type="http://schemas.openxmlformats.org/officeDocument/2006/relationships/image" Target="/ppt/media/image.png" Id="R09008d051e964047" /><Relationship Type="http://schemas.openxmlformats.org/officeDocument/2006/relationships/image" Target="/ppt/media/image2.png" Id="Rb810d32ac7f84b2e" /><Relationship Type="http://schemas.openxmlformats.org/officeDocument/2006/relationships/image" Target="/ppt/media/image3.png" Id="Rdfb6058ff31e4a7d" /><Relationship Type="http://schemas.openxmlformats.org/officeDocument/2006/relationships/image" Target="/ppt/media/image4.png" Id="R9db8d83959934ad4" /><Relationship Type="http://schemas.openxmlformats.org/officeDocument/2006/relationships/image" Target="/ppt/media/image5.png" Id="Rcbcd0f8e006f4ccc" /><Relationship Type="http://schemas.openxmlformats.org/officeDocument/2006/relationships/notesSlide" Target="/ppt/notesSlides/notesSlide3.xml" Id="R50163db211f146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90cdc4fb94dbd" /><Relationship Type="http://schemas.openxmlformats.org/officeDocument/2006/relationships/image" Target="/ppt/media/image2.png" Id="R1566d0733b624601" /><Relationship Type="http://schemas.openxmlformats.org/officeDocument/2006/relationships/notesSlide" Target="/ppt/notesSlides/notesSlide4.xml" Id="R9ad7d7adb5ad4b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0e8810ab1491c" /><Relationship Type="http://schemas.openxmlformats.org/officeDocument/2006/relationships/image" Target="/ppt/media/image3.png" Id="R37ce08db5ec04662" /><Relationship Type="http://schemas.openxmlformats.org/officeDocument/2006/relationships/notesSlide" Target="/ppt/notesSlides/notesSlide5.xml" Id="R7771019740f545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842b4da614caf" /><Relationship Type="http://schemas.openxmlformats.org/officeDocument/2006/relationships/image" Target="/ppt/media/image4.png" Id="R985d28f78ecd4ea5" /><Relationship Type="http://schemas.openxmlformats.org/officeDocument/2006/relationships/image" Target="/ppt/media/image6.png" Id="Rbcfef125c4c145f5" /><Relationship Type="http://schemas.openxmlformats.org/officeDocument/2006/relationships/notesSlide" Target="/ppt/notesSlides/notesSlide6.xml" Id="R020584b0566247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d0315cfc34858" /><Relationship Type="http://schemas.openxmlformats.org/officeDocument/2006/relationships/image" Target="/ppt/media/image5.png" Id="R11f0b58ec4154e28" /><Relationship Type="http://schemas.openxmlformats.org/officeDocument/2006/relationships/notesSlide" Target="/ppt/notesSlides/notesSlide7.xml" Id="Rba0255a076fa41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e1104fbd4b93" /><Relationship Type="http://schemas.openxmlformats.org/officeDocument/2006/relationships/image" Target="/ppt/media/image7.png" Id="Raac8c346e010477e" /><Relationship Type="http://schemas.openxmlformats.org/officeDocument/2006/relationships/image" Target="/ppt/media/image8.png" Id="Rb94226498d164753" /><Relationship Type="http://schemas.openxmlformats.org/officeDocument/2006/relationships/chart" Target="/ppt/slides/charts/chart1.xml" Id="R514f3e33a76048cb" /><Relationship Type="http://schemas.openxmlformats.org/officeDocument/2006/relationships/notesSlide" Target="/ppt/notesSlides/notesSlide8.xml" Id="Rb71740c6d27f4a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a1dc8e5e04f97" /><Relationship Type="http://schemas.openxmlformats.org/officeDocument/2006/relationships/image" Target="/ppt/media/image4.png" Id="Rde2e873c5b3f4de7" /><Relationship Type="http://schemas.openxmlformats.org/officeDocument/2006/relationships/image" Target="/ppt/media/image3.png" Id="R9c3ff77b852346c4" /><Relationship Type="http://schemas.openxmlformats.org/officeDocument/2006/relationships/notesSlide" Target="/ppt/notesSlides/notesSlide9.xml" Id="R3ad716779d6442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25732b3724246" /><Relationship Type="http://schemas.openxmlformats.org/officeDocument/2006/relationships/image" Target="/ppt/media/image9.png" Id="R7993c685fc3b4888" /><Relationship Type="http://schemas.openxmlformats.org/officeDocument/2006/relationships/image" Target="/ppt/media/image10.png" Id="R2831919ec6694f8a" /><Relationship Type="http://schemas.openxmlformats.org/officeDocument/2006/relationships/notesSlide" Target="/ppt/notesSlides/notesSlide10.xml" Id="R7ff0e1380ebe4a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1823f19b44e52" /><Relationship Type="http://schemas.openxmlformats.org/officeDocument/2006/relationships/image" Target="/ppt/media/image9.png" Id="R8ab5f512c0914ee7" /><Relationship Type="http://schemas.openxmlformats.org/officeDocument/2006/relationships/notesSlide" Target="/ppt/notesSlides/notesSlide11.xml" Id="R2b8f02d864ab40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96221fe3a4f60" /><Relationship Type="http://schemas.openxmlformats.org/officeDocument/2006/relationships/image" Target="/ppt/media/image8.png" Id="R750da98df6f346db" /><Relationship Type="http://schemas.openxmlformats.org/officeDocument/2006/relationships/notesSlide" Target="/ppt/notesSlides/notesSlide12.xml" Id="R6e97b36be81240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2d06687f74c4d" /><Relationship Type="http://schemas.openxmlformats.org/officeDocument/2006/relationships/notesSlide" Target="/ppt/notesSlides/notesSlide13.xml" Id="R22e2f62602464b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6bd45ea3746d4" /><Relationship Type="http://schemas.openxmlformats.org/officeDocument/2006/relationships/image" Target="/ppt/media/image9.png" Id="Ra22ba6d663f2478b" /><Relationship Type="http://schemas.openxmlformats.org/officeDocument/2006/relationships/image" Target="/ppt/media/image10.png" Id="R9a1a840ff6244f85" /><Relationship Type="http://schemas.openxmlformats.org/officeDocument/2006/relationships/image" Target="/ppt/media/image8.png" Id="R3c89854dad1c4335" /><Relationship Type="http://schemas.openxmlformats.org/officeDocument/2006/relationships/notesSlide" Target="/ppt/notesSlides/notesSlide14.xml" Id="R99c04aa8ee6348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98413d7e142a5" /><Relationship Type="http://schemas.openxmlformats.org/officeDocument/2006/relationships/notesSlide" Target="/ppt/notesSlides/notesSlide15.xml" Id="R484bc153aa544a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54ad838cd4fa4" /><Relationship Type="http://schemas.openxmlformats.org/officeDocument/2006/relationships/notesSlide" Target="/ppt/notesSlides/notesSlide16.xml" Id="R2d475f0c4fc8494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Μελέτες</c:v>
          </c:tx>
          <c:spPr>
            <a:solidFill xmlns:a="http://schemas.openxmlformats.org/drawingml/2006/main">
              <a:srgbClr val="0B7FB8"/>
            </a:solidFill>
          </c:spPr>
          <c:cat>
            <c:strRef>
              <c:f>'Chart Data'!$A$2:$A$7</c:f>
              <c:strCache>
                <c:ptCount val="6"/>
                <c:pt idx="0">
                  <c:v>CIC-IDS2017</c:v>
                </c:pt>
                <c:pt idx="1">
                  <c:v>UNSW-NB15</c:v>
                </c:pt>
                <c:pt idx="2">
                  <c:v>NSL-KDD</c:v>
                </c:pt>
                <c:pt idx="3">
                  <c:v>CIC-IoT2023</c:v>
                </c:pt>
                <c:pt idx="4">
                  <c:v>BoT-IoT</c:v>
                </c:pt>
                <c:pt idx="5">
                  <c:v>ISCX VPN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12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0213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FA1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4C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8FA1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64C7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497BAD-1020-4FC2-A3AF-F3FB0BC4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908A982-1874-4205-9424-DAEA237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Εφαρμογές Βαθιάς Μάθησης σε</a:t>
            </a:r>
            <a:endParaRPr sz="2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EC88830-B9BB-4841-BB30-6C9B6D59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960120"/>
            <a:ext cx="7498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Συστήματα Ανίχνευσης Εισβολών Δικτύου (NIDS)</a:t>
            </a:r>
            <a:endParaRPr sz="26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EDC3E8-95ED-4EF9-AC06-CF5ED5D7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7632"/>
            <a:ext cx="7498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Μια Κριτική Ανασκόπηση</a:t>
            </a:r>
            <a:endParaRPr sz="18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D08C051-8568-4724-BCB9-A5DC98AF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6272"/>
            <a:ext cx="68580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019DDEA-22F2-42C7-90FB-707D8BB2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1720"/>
            <a:ext cx="7498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Ανασκόπηση του άρθρου: Anis, Alabdullatif, Aljbli &amp; Hammoudeh – IEEE Access, 2025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12D4434-2938-4D1E-85FF-239C17D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97680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Γρουζτίδης Σπ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υρίδων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  ·  Χριστάρας Ιωακείμ</a:t>
            </a:r>
            <a:endParaRPr sz="1200"/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Προηγμένα Θέματα Δικτύωσης  |  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Τμήμα Μηχανικών ΠΕΣ, 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Πα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νε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πιστήμιο Αιγαίου  |  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Μάιος </a:t>
            </a: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2026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21506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8A2B0A-535F-49F3-BF5B-FCA7F96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0A2889-48E1-44DB-844A-AD3055DC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"/>
            <a:ext cx="8412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Ερευνητικό Πλαίσιο: Γιατί DL για NIDS;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CA635A8-039D-4F7D-8F6F-2EB1892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012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03E5AF-309A-4C71-82BD-476B579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005840"/>
            <a:ext cx="2651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4.88M</a:t>
            </a:r>
            <a:endParaRPr sz="3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5F393C-AA6C-4D99-A781-0A40BFD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9164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Μέσο κόστος παραβίασης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(IBM, 2024, +10% YoY)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F13C93-3E07-43A6-B3E5-5059F334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6012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50D52B2-E880-4F49-A8EC-ACA667C4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05840"/>
            <a:ext cx="2651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194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A6BA72B-A534-4D01-BE65-20F262F9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164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Μέσες ημέρες ανίχνευσης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παραβίασης (dwell time)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DC8C05-3916-4C3D-BF66-8D32049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960120"/>
            <a:ext cx="26517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460EC8-2180-425B-AC20-73325F4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005840"/>
            <a:ext cx="2651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&gt;80%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02D723E-00A6-44EC-B8B4-A4EF0971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691640"/>
            <a:ext cx="26517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Enterprise κυκλοφορία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κρυπτογραφημένη (TLS 1.3)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152CB63-4143-47B1-BA7F-FE50A6B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514600"/>
            <a:ext cx="4023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Αδυναμίες παραδοσιακών NIDS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3C912C-4D50-40AE-9038-4B8CE0B4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834640"/>
            <a:ext cx="40233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Signature-based: τυφλό σε zero-day &amp; νέες παραλλαγές</a:t>
            </a:r>
            <a:endParaRPr sz="13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Anomaly-based: υψηλό false positive rate</a:t>
            </a:r>
            <a:endParaRPr sz="13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Αδυναμία ανάλυσης payload υπό TLS 1.3</a:t>
            </a:r>
            <a:endParaRPr sz="13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APT: εκτείνονται σε εβδομάδες, δεν ανιχνεύονται flow-level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1A49CE8-6D80-4020-BAE8-564FF7C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3160"/>
            <a:ext cx="4572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32DCDA-0A85-4029-BFA1-4BE0B0D9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4023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Πλεονεκτήματα Deep Learning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2891CF6-8057-41C9-AA46-576D1AF4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34640"/>
            <a:ext cx="40233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Αυτόματη εκμάθηση χαρακτηριστικών (no feature engineering)</a:t>
            </a:r>
            <a:endParaRPr sz="13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Ανίχνευση μη γραμμικών, σύνθετων μοτίβων</a:t>
            </a:r>
            <a:endParaRPr sz="13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Δυνατότητα zero-day ανίχνευσης (AE/GAN)</a:t>
            </a:r>
            <a:endParaRPr sz="1300"/>
          </a:p>
          <a:p xmlns:a="http://schemas.openxmlformats.org/drawingml/2006/main"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Αποτύπωση χρονικών εξαρτήσεων (Transformer, LSTM)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56723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5161F5-DC3D-4E95-A9A0-00DDF7DE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532001-F407-4DB3-B5BA-B00C3A14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"/>
            <a:ext cx="8412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Το Άρθρο — Anis et al., IEEE Access 2025</a:t>
            </a:r>
            <a:endParaRPr sz="22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08d051e964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96012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D30FD75-52E0-4E76-AA37-258257C8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005840"/>
            <a:ext cx="7772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 31 μελετών (2020–2025) — IEEE Access open-access</a:t>
            </a:r>
            <a:endParaRPr sz="15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020F867-8882-4345-9D03-641CEC3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91640"/>
            <a:ext cx="20116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0d32ac7f84b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848" y="181051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14A8D01-9E1F-456C-BDA9-289CBBBF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Ανακατασκευαστικά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&amp; Γεννητικά</a:t>
            </a:r>
            <a:endParaRPr sz="13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3486D56-2041-40EA-9046-5AD4118B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999232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AE, LSTM-AE,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VAE+CBAM, GAN, ET-SSL</a:t>
            </a:r>
            <a:endParaRPr sz="11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0D49449-58B1-4690-9415-746FC00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1A4F976-90FF-4FEF-925C-16E8A104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319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AADBE99-458E-42C0-93E1-34B413BA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691640"/>
            <a:ext cx="20116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6058ff31e4a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8688" y="181051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9A51976-2649-4E7A-8147-2139E301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359152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Transformer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-based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093DEF3-DE22-4416-9F5C-0A14231B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999232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FlowTransformer,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NIDS-GPT, MDT, TransECA-Net</a:t>
            </a:r>
            <a:endParaRPr sz="11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B50DC636-28E9-45D7-AC60-71A9EC8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19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3F262E56-0280-417C-A24B-D43D070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19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354806A7-216F-4A01-AD68-2D389811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91640"/>
            <a:ext cx="20116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8d83959934a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7528" y="181051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4506C0B9-4D44-4C52-A0AC-7A9F194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359152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CNN &amp; Feed-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Forward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E3FCED2-4D2E-4D73-8070-24FF40F8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99232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ABCNN-IDS, SPIN-IDS,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Spectrogram CNN, DNN</a:t>
            </a:r>
            <a:endParaRPr sz="110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B9F0856B-5FE9-4524-BC14-F2E7A1F3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319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04A2AEB-DAB0-4B1B-AF10-F5ECF636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319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74517113-19AB-41CD-A03D-B9EA975C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91640"/>
            <a:ext cx="20116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d0f8e006f4c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6368" y="1810512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D315955C-5EFC-4061-B7E8-5585B3E6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59152"/>
            <a:ext cx="2011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Υβριδικά &amp;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Federated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3B3E80B-1ABC-444A-9101-E1D7F5C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999232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CNN+RF, ResNet+FL,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FedGAT, CNN+BiGRU</a:t>
            </a:r>
            <a:endParaRPr sz="110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1DB6B9C5-F971-4B82-A018-39BA564E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9319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DF906053-83C1-4A06-83D4-1D1ED4C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9319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C6F694F2-1C7F-46FE-8D2C-17596149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54880"/>
            <a:ext cx="8503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Κεντρική συνεισφορά: ταξινομία βάσει θεμελιώδους υπόθεσης για τη φύση της απειλής — όχι απλώς βάσει αρχιτεκτονικού τύπου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72354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A270EF-50B1-4FEC-B131-0501D5B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6d0733b62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0972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036B6E2-8B81-4B64-BD07-79C3557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"/>
            <a:ext cx="7955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Κατηγορία 1: Ανακατασκευαστικά &amp; Γεννητικά Μοντέλα</a:t>
            </a:r>
            <a:endParaRPr sz="2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86E24F2-C18B-4E04-AC36-446ACA99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1508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021C1B-6463-4DE9-8154-515C770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1508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(κυκλοφορία)</a:t>
            </a:r>
            <a:endParaRPr sz="11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0770D06-1088-40E5-8101-8E57E1DF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32588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5947811-7FEE-4F3C-A831-A2892FF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1508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46BD02F-173D-4202-89CF-98CB5C0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14400"/>
            <a:ext cx="1508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Encoder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(latent space)</a:t>
            </a:r>
            <a:endParaRPr sz="11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9B31837-0206-4345-886B-F8277EB6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2588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F0821A2-69B5-4C0E-9557-DCC2BE0E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914400"/>
            <a:ext cx="1508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109C75A-42E3-44D6-9386-33BD1DA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914400"/>
            <a:ext cx="1508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Decoder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(ανακατ/ευή)</a:t>
            </a:r>
            <a:endParaRPr sz="11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174DB04-050A-4EE7-A8C0-EDEF4FA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2588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B4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A4CF027-EA32-4B48-95BE-A560ED6C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914400"/>
            <a:ext cx="15087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65E50F2-F1CE-46B8-998F-AF35F5F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914400"/>
            <a:ext cx="1508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Reconstruction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Error → score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E252175-CE9C-4CB2-A5F3-1897F89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914400"/>
            <a:ext cx="2011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B4F72"/>
                </a:solidFill>
                <a:latin typeface="Calibri"/>
                <a:ea typeface="Calibri"/>
                <a:cs typeface="Calibri"/>
              </a:rPr>
              <a:t>→ Εκπαίδευση μόνο σε benign κυκλοφορία. Επιθέσεις = υψηλό error = ανωμαλία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FF9B09A-973A-445C-951B-85BD87A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920240"/>
            <a:ext cx="8595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1A38F1-CE2D-4EBE-B41D-C02C9A4B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947672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Μοντέλο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5685401-D73E-420E-AAC4-9C168684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7672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Datasets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6BFEFD4-BFEB-44A8-B79C-E9FD4B46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47672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Απόδοση</a:t>
            </a:r>
            <a:endParaRPr sz="12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0C687BC-E271-45E2-A435-D662CD8B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31720"/>
            <a:ext cx="8595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F7FD701-2F97-4E94-9178-4B13DFFB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68296"/>
            <a:ext cx="2377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Contractive AE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6079113-27D7-498C-B3E1-B8134A82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8296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NSL-KDD, UNSW-NB15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1DC439-5C9E-48B6-9D41-14962C6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368296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AUC 0.92–0.93, F1 ~90%</a:t>
            </a:r>
            <a:endParaRPr sz="1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01EA1080-E1DC-4405-8540-ED668E4E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07208"/>
            <a:ext cx="8595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F17DE2A-CACD-454E-B7A1-955CA2CC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843784"/>
            <a:ext cx="2377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LSTM-AE (IoV)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2391D494-D341-4F3D-A27A-8C4A1D2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43784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Car-Hacking, UNSW-NB15</a:t>
            </a:r>
            <a:endParaRPr sz="1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8D32429-5A02-4020-9130-9D8234BD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843784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Acc ~99% / ~98%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34F58682-1363-4545-82ED-18BDE7D0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82696"/>
            <a:ext cx="8595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D2A8534-F1F7-410D-96C3-C08D1EF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319272"/>
            <a:ext cx="2377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VAE + CBAM</a:t>
            </a:r>
            <a:endParaRPr sz="11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05F002B7-2C98-47F1-9C81-1A6364DA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19272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CIC-IDS2017</a:t>
            </a:r>
            <a:endParaRPr sz="11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1AA5471-E3DE-4560-8E21-2EF9C3EF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319272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Acc 99.52%</a:t>
            </a:r>
            <a:endParaRPr sz="11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488D7AC-BB55-444A-A957-5493ED49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58184"/>
            <a:ext cx="8595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4BFB009-7C4F-4CF3-AF6F-81D11C7B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94760"/>
            <a:ext cx="2377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ET-SSL (TLS)</a:t>
            </a:r>
            <a:endParaRPr sz="1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37C3231-027A-4903-A3AB-1E6EAED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CIC-Darknet2020, ISCX</a:t>
            </a:r>
            <a:endParaRPr sz="11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D0AFA72-64C8-4D55-BBB3-5FB844C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7947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DR &gt;95%, ZD-TPR &gt;92%, 15–25ms</a:t>
            </a:r>
            <a:endParaRPr sz="110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42435FD2-66E5-4C42-8129-61B27DA7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33672"/>
            <a:ext cx="8595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5CEC63E-0784-40F0-B465-E30B958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270248"/>
            <a:ext cx="2377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SYN-GAN (augment)</a:t>
            </a:r>
            <a:endParaRPr sz="110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E454A8A3-CC3E-4FD2-AFB8-E9B3FD8B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70248"/>
            <a:ext cx="29260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UNSW-NB15, NSL-KDD, BoT-IoT</a:t>
            </a:r>
            <a:endParaRPr sz="11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B8A2B132-4B6A-4A98-B2C9-5D238348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4270248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~90% / ~84% / 100%</a:t>
            </a:r>
            <a:endParaRPr sz="11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949F807B-DA4B-4745-BDBB-78771D6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73168"/>
            <a:ext cx="8595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B4F72"/>
                </a:solidFill>
                <a:latin typeface="Calibri"/>
                <a:ea typeface="Calibri"/>
                <a:cs typeface="Calibri"/>
              </a:rPr>
              <a:t>⚡ Πλεονέκτημα: zero-day ανίχνευση χωρίς labeled attack data  |  ⚠ Αδυναμία: binary label, όχι κατηγοριοποίηση τύπου επίθεσης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01983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B712F07-4812-4447-B565-88708055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e08db5ec046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0972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091FE06-8B7E-4260-A6AD-79ACF90F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"/>
            <a:ext cx="7955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Κατηγορία 2: Transformer-based NIDS</a:t>
            </a:r>
            <a:endParaRPr sz="2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800EF74-D76C-4218-A052-3C5FE23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374904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DB99018-4A4C-4241-B564-FC23AD37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0120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Self-Attention: O(n²)</a:t>
            </a:r>
            <a:endParaRPr sz="14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ACF7A4-CFAE-4335-961F-7065ED6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075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Αποτύπωση εξαρτήσεων μεταξύ οποιωνδήποτε θέσεων σε ακολουθία — ιδανικό για multi-step APT ανίχνευση</a:t>
            </a:r>
            <a:endParaRPr sz="11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1817B02-82A6-484C-9F6C-F7AD21FA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914400"/>
            <a:ext cx="45720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B8441BB-D7E4-4FB0-B65D-A9D0E2F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960120"/>
            <a:ext cx="44805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MDT — Έγκαιρη Ανίχνευση</a:t>
            </a:r>
            <a:endParaRPr sz="1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2A3D429-3EA8-4C21-8F4A-94C5CAB1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07592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F1 67.4% @ 0.1sec  |  F1 94% @ 40% ροής  |  F1 98% @ 23%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8E1AA32-B686-4177-A893-150109F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84832"/>
            <a:ext cx="8595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B2E9BA2-B881-409E-BD7C-D512FF0C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10312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Μοντέλο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F1B926D-B82F-4DA9-B685-CF98432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10312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Datasets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C45BDA9-F8DF-479F-8BA3-C6417747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103120"/>
            <a:ext cx="1920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Απόδοση</a:t>
            </a:r>
            <a:endParaRPr sz="12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ECF203A-572F-415A-8278-76F82B61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0312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Σημείωση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39760FA-F30B-443F-9F2C-2B48FF63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96312"/>
            <a:ext cx="85953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AB825E6-81D4-4743-B393-49E5DF5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532888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FlowTransformer [8]</a:t>
            </a:r>
            <a:endParaRPr sz="11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AD0E461-6045-4382-9BDF-2AE0DBFA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532888"/>
            <a:ext cx="2468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KDD'99, UNSW-NB15, CIC-IDS2017</a:t>
            </a:r>
            <a:endParaRPr sz="11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9142ED1-4F96-4CFA-8884-0CB588D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532888"/>
            <a:ext cx="1920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F1 &gt;0.97 (2 layers)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9B5FC53-63CF-4D13-A714-DB096AD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532888"/>
            <a:ext cx="1828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Εναλλάξιμοι κωδ., GPT-2/BERT</a:t>
            </a:r>
            <a:endParaRPr sz="10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F9DA452-906D-4646-AC8B-12D79C6D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026664"/>
            <a:ext cx="85953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1D2AD42-586D-4D17-98B2-016846CD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63240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Transformer (IoT)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278F220-AC5E-416C-8899-CCC033C0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063240"/>
            <a:ext cx="2468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CIC-IoT-2023 → ToN-IoT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4E645D8-FD98-4062-A39F-871A8711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063240"/>
            <a:ext cx="1920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99.40% → 88.25%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32BECA1-99CC-40F5-8F97-F358AAA0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63240"/>
            <a:ext cx="1828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Cross-dataset gap </a:t>
            </a:r>
            <a:endParaRPr sz="1000">
              <a:solidFill>
                <a:srgbClr val="7B8CA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EF17004-4F66-4975-8D1F-8F70C68F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557016"/>
            <a:ext cx="85953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329052D-BFD7-499C-82D8-1E4B61ED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593592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NIDS-GPT</a:t>
            </a:r>
            <a:endParaRPr sz="1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B8430D8-99F8-439A-A0CF-0CF69419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593592"/>
            <a:ext cx="2468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Packet bytes (few-shot)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2F62C76-006B-4D69-9DA7-66016AAE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593592"/>
            <a:ext cx="1920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100% minority @1:1000, 95% transfer</a:t>
            </a:r>
            <a:endParaRPr sz="1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9B41B17C-B756-432C-93FA-23A509D7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593592"/>
            <a:ext cx="1828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Υψηλό υπολογ. κόστος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38DDDC5-96C0-4C8D-9301-25FE386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87368"/>
            <a:ext cx="859536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6C1C3BB-690A-47A0-9D96-E09270E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123944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TransECA-Net</a:t>
            </a:r>
            <a:endParaRPr sz="11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1815128-C78A-4449-B5BB-B0A7FED7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123944"/>
            <a:ext cx="2468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12 κλάσεις VPN traffic</a:t>
            </a:r>
            <a:endParaRPr sz="11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397EEE64-769F-4388-89D3-E2FB991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123944"/>
            <a:ext cx="19202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98.25% (+6</a:t>
            </a: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–14.8% vs CNN-LSTM)</a:t>
            </a:r>
            <a:endParaRPr sz="1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2FB7395-3979-46B0-A732-ACA601BA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23944"/>
            <a:ext cx="1828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40–49% ταχύτερη σύγκλιση</a:t>
            </a:r>
            <a:endParaRPr sz="10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65E11D3-1E2E-4C8A-8294-1AD72F6C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18888"/>
            <a:ext cx="8595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⚠ Ελαφρύτερα Transformer (2 layers) ≈ βαθύτερα στο NIDS context — η αυξημένη πολυπλοκότητα δεν δικαιολογείται πάντα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66338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271C89-6C23-4939-9CBE-C0478E3A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d28f78ecd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0972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3152E96-9E1C-40A0-A84B-1F89CF28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"/>
            <a:ext cx="7955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Κατηγορία 3: CNN &amp; Feed-Forward Networks</a:t>
            </a:r>
            <a:endParaRPr sz="2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8DA80E4-F63A-488C-8DC0-943EAC91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859536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effectLst xmlns:a="http://schemas.openxmlformats.org/drawingml/2006/main"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ef125c4c145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0058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B9A816B-4718-496D-B957-532558E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1560"/>
            <a:ext cx="7863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Edge deployment: &lt;2ms/flow σε ARM CPU, &lt;1MB μνήμη — κατάλληλο για IoT gateways &amp; embedded συσκευές</a:t>
            </a:r>
            <a:endParaRPr sz="13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E496F2EB-82F3-4892-92ED-B45E70FF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19072"/>
            <a:ext cx="4206240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E9783689-5C2C-4E00-A654-AD8A917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19072"/>
            <a:ext cx="109728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13993F27-AAA4-46DE-9F61-F8896AA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792224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ABCNN-IDS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FA1A6D4-BA2D-41B7-B9A5-2831119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215461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99.81%</a:t>
            </a:r>
            <a:endParaRPr sz="14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AE3BCA2-CDC7-490B-86B2-C34DB272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221992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Attention + mutual info filtering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4 IoT datasets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E182ED7-FF35-4E88-94EB-6DB99BB2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706624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Χωρίς resource-constrained eval</a:t>
            </a:r>
            <a:endParaRPr sz="10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5FF3DD7-471F-4361-8E84-4C258A2E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19072"/>
            <a:ext cx="4206240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47676A4-79D8-4DE6-A2B2-AE862094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19072"/>
            <a:ext cx="109728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B924B64-BB88-4984-A0F1-C2F1A77B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SPIN-IDS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F5051B1-D6E9-4F44-84F1-2810E0BD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212848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97.7–99%</a:t>
            </a:r>
            <a:endParaRPr sz="1400"/>
          </a:p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~98% cross-dataset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FD28A30-6919-4718-84C1-81F804B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221992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Byte images από πακέτα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Ανθεκτικό σε adversarial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6520CE7-9133-4BB4-A210-44078295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706624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Μία από λίγες αντ/ικές μελέτες</a:t>
            </a:r>
            <a:endParaRPr sz="10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3AB4ADE-0F83-4BE3-BF5D-B9462A4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55264"/>
            <a:ext cx="4206240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FEF8E26-F8FB-4156-86D7-234C592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55264"/>
            <a:ext cx="109728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69B091C-1381-44EE-AAEE-D1DFAD8C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328416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Spectrogram CNN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(STFT)</a:t>
            </a:r>
            <a:endParaRPr sz="13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E15126A-8A80-4969-9864-CF728D9F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73075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~99.5%</a:t>
            </a:r>
            <a:endParaRPr sz="14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BFEA987-F517-4C7A-A9D3-0EF925AF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758184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DoS/DDoS ανίχνευση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CSE-CIC-IDS2018, NSL-KDD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73ECD39-3835-47FE-86E4-5B103FE8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242816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STFT overhead αμελητέο</a:t>
            </a:r>
            <a:endParaRPr sz="10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57A4A3D-9B79-4751-A2B6-F9C3A215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55264"/>
            <a:ext cx="4206240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51EAA79-DDB7-4268-BBAA-A9F8C29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55264"/>
            <a:ext cx="109728" cy="1426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2B8CB7E-9340-4FB3-B5E4-1D43D262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328416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Multi-task DNN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39A95188-17C6-445D-BC40-1D75531F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73075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~87.5%</a:t>
            </a:r>
            <a:endParaRPr sz="1400"/>
          </a:p>
          <a:p xmlns:a="http://schemas.openxmlformats.org/drawingml/2006/main">
            <a:pPr marL="0" indent="0" algn="r">
              <a:buNone/>
            </a:pPr>
            <a:r>
              <a:rPr sz="1400" b="1">
                <a:solidFill>
                  <a:srgbClr val="0077B6"/>
                </a:solidFill>
                <a:latin typeface="Calibri"/>
                <a:ea typeface="Calibri"/>
                <a:cs typeface="Calibri"/>
              </a:rPr>
              <a:t>vs 81% single-task</a:t>
            </a:r>
            <a:endParaRPr sz="14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D77D1E3-25D0-4C1B-813A-691D18AE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758184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 labels ταυτόχρονα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UNSW-NB15 + CIC-IDS2017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2E061A3-2940-4E4D-97D8-1F8213D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4242816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Κοινή αναπαράσταση χαρακτ.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392628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39F783-17B9-4257-9828-F967848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0b58ec4154e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0972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F5C8EED-BC31-49A5-B479-EDB326B6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"/>
            <a:ext cx="7955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Κατηγορία 4: Υβριδικά Μοντέλα &amp; Federated Learning</a:t>
            </a:r>
            <a:endParaRPr sz="2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2B0164D-7948-4A2C-A09F-EA5A506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0"/>
            <a:ext cx="85953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F789763-3DD8-43C2-8922-F2472B8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8412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FedAvg [McMahan et al., 2017]: τοπική εκπαίδευση και κεντρική συνάθροιση updates. Περιορίζει τη μεταφορά raw traffic, αλλά δεν εγγυάται συμμόρφωση ή προστασία από gradient leakage.</a:t>
            </a:r>
            <a:endParaRPr sz="12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C02076B-F02D-44B5-9663-7010C05B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490472"/>
            <a:ext cx="85953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E0C975F-24F5-48A6-9481-4255042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5087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Μοντέλο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A552BC4-42B0-47D2-AE57-0B0703B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508760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Clients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A1320AE-3DC4-4E5E-BFA0-7FE3805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5087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Dataset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DC593C3-7C95-452A-9DD9-D908790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5087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Απόδοση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D44F4B0-7298-4152-B373-E2A8A4AE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8760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Σημείωση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7F0221E-EE89-47FD-98C0-FE53367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92808"/>
            <a:ext cx="859536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65E2D92-AEE8-4298-8F9E-846F4568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929384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 (FedAvg)</a:t>
            </a:r>
            <a:endParaRPr sz="11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6181A07-1B4D-477C-AFD3-80D8896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929384"/>
            <a:ext cx="1325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10–150 (Raspi)</a:t>
            </a:r>
            <a:endParaRPr sz="11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9E0E01E-B76F-4431-AC9E-3A0EE179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929384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CIC-IoT2023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674F843-CFA2-4CB0-B502-922E9FCD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9384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~98% @10 clients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~94% @150 clients</a:t>
            </a:r>
            <a:endParaRPr sz="11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F031A5B-688F-49D8-9D7F-6B42EEC5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29384"/>
            <a:ext cx="2194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CNN+BiLSTM αποτυγχάνει IoT HW</a:t>
            </a:r>
            <a:endParaRPr sz="10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75F9005-4199-4C6D-9B83-8F68AB8A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14600"/>
            <a:ext cx="859536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9E69C93-6370-4370-B4E3-C71EF398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551176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FedGAT (23 layers)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EB762F9-16E4-4A52-8357-3CB9E66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551176"/>
            <a:ext cx="1325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Distributed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75107BD-BE62-4390-9656-D3B0BC9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51176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Graph-based</a:t>
            </a:r>
            <a:endParaRPr sz="11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04AD679-EFFA-4331-9689-3A72E33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551176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95–97%</a:t>
            </a:r>
            <a:endParaRPr sz="11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91061C43-5507-4AAC-A8E1-401FAE67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1176"/>
            <a:ext cx="2194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Explainability (attention weights)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D20028E-E0B0-41DF-BE14-D26A1B86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36392"/>
            <a:ext cx="859536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607704D-B830-450F-9BBB-056156D4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172968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AE+DNN (FL)</a:t>
            </a:r>
            <a:endParaRPr sz="11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2F239F1-C6B0-4037-A463-9EFED4EC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172968"/>
            <a:ext cx="1325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Distributed</a:t>
            </a:r>
            <a:endParaRPr sz="11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DB019FD-186A-403C-B3A0-728E83B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72968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N-BaIoT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DCC99C3-C27B-4E80-934D-0D4F86D3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172968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AE F1=0.99</a:t>
            </a:r>
            <a:endParaRPr sz="11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287BE63-4074-460D-96C5-7BCE0196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2968"/>
            <a:ext cx="2194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Unsupervised ανθεκτικότερο σε FL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BE15D93-EC71-4AA5-9406-BBA351D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58184"/>
            <a:ext cx="8595360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7E81916-BF2A-4E34-8DBE-ACB877D3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94760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ResNet+FL</a:t>
            </a:r>
            <a:endParaRPr sz="11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A5BAEE7-B72D-4213-8B97-5050903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794760"/>
            <a:ext cx="1325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Industrial IoT</a:t>
            </a:r>
            <a:endParaRPr sz="11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3BC8084-11DB-4787-9B58-E145308A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794760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X-IIoTID</a:t>
            </a:r>
            <a:endParaRPr sz="11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7773B327-A0EC-4D8E-BFFB-04B8816A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794760"/>
            <a:ext cx="16002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~99.2–99.4%</a:t>
            </a:r>
            <a:endParaRPr sz="11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5DA84476-378D-4C30-A69F-BA0EE753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4760"/>
            <a:ext cx="21945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Dataset μη </a:t>
            </a: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δημόσιο</a:t>
            </a: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 / reproducibility</a:t>
            </a:r>
            <a:endParaRPr sz="10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7DE501C3-088B-44E2-8073-34088102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28032"/>
            <a:ext cx="8595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⚠ Gradient Privacy Risk: model inversion attacks — differential privacy αντισταθμίζει αλλά μειώνει ακρίβεια. Δεν αναλύεται συστηματικά στο corpus.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40031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F4B425-EEA2-4981-B255-89D7635C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8c346e010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0972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D2C2971-FA14-4449-BD1D-A8AEC670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"/>
            <a:ext cx="7955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Datasets — Συχνότητα Χρήσης &amp; Κριτική Αξιολόγηση</a:t>
            </a:r>
            <a:endParaRPr sz="2000"/>
          </a:p>
        </p:txBody>
      </p:sp>
      <p:sp>
        <p:nvSpPr>
          <p:cNvPr id="6" name="Shape 2">
            <a:extLst xmlns:a="http://schemas.openxmlformats.org/drawingml/2006/main">
              <a:ext uri="{FF2B5EF4-FFF2-40B4-BE49-F238E27FC236}">
                <a16:creationId xmlns:a16="http://schemas.microsoft.com/office/drawing/2014/main" id="{11891085-E666-4254-B178-1C16539E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14400"/>
            <a:ext cx="420624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2664CB35-1BBA-4EE7-B71E-F31942D4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41832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Κύριες αδυναμίες datasets</a:t>
            </a:r>
            <a:endParaRPr sz="13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1A5A9F65-46D4-469F-9BAB-FD579EE2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89888"/>
            <a:ext cx="4206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226498d16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8304" y="14630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7CA6094F-088E-4EC6-A48F-9F4704D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426464"/>
            <a:ext cx="37856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CIC-IDS2017: ακραίο class imbalance (Infiltration &lt;0.1%), τεχνητά εργαστηριακά σενάρια</a:t>
            </a:r>
            <a:endParaRPr sz="1050"/>
          </a:p>
        </p:txBody>
      </p:sp>
      <p:sp>
        <p:nvSpPr>
          <p:cNvPr id="11" name="Shape 6">
            <a:extLst xmlns:a="http://schemas.openxmlformats.org/drawingml/2006/main">
              <a:ext uri="{FF2B5EF4-FFF2-40B4-BE49-F238E27FC236}">
                <a16:creationId xmlns:a16="http://schemas.microsoft.com/office/drawing/2014/main" id="{E7AF9ADD-659A-44E6-81CB-861C64AA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65376"/>
            <a:ext cx="4206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226498d16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8304" y="193852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C96544BE-3970-4D6E-83F9-DB4720C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1901952"/>
            <a:ext cx="37856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NSL-KDD (2009): γνωστό data leakage μεταξύ train/test features</a:t>
            </a:r>
            <a:endParaRPr sz="1050"/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CB43EF31-A3DE-4662-8307-B57A10D3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40864"/>
            <a:ext cx="4206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226498d16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8304" y="241401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9BD35024-71B6-4CE9-BDF4-5FF43C0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377440"/>
            <a:ext cx="37856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Cross-domain: απόδοση πέφτει 10–30% (CIC-IDS2017 → ToN-IoT)</a:t>
            </a:r>
            <a:endParaRPr sz="1050"/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5AF4DF14-8093-4AEE-A8AF-6A3DC1F9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816352"/>
            <a:ext cx="4206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226498d16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8304" y="288950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1110DDE-D942-4BEE-8924-52794D3C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852928"/>
            <a:ext cx="37856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IoT datasets: ελεγχόμενες συνθήκες, δεν αντικατοπτρίζουν real IoT</a:t>
            </a:r>
            <a:endParaRPr sz="1050"/>
          </a:p>
        </p:txBody>
      </p:sp>
      <p:sp>
        <p:nvSpPr>
          <p:cNvPr id="20" name="Shape 12">
            <a:extLst xmlns:a="http://schemas.openxmlformats.org/drawingml/2006/main">
              <a:ext uri="{FF2B5EF4-FFF2-40B4-BE49-F238E27FC236}">
                <a16:creationId xmlns:a16="http://schemas.microsoft.com/office/drawing/2014/main" id="{0325F220-04AE-4BF5-A8FE-E2B7485B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91840"/>
            <a:ext cx="420624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226498d16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8304" y="33649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3">
            <a:extLst xmlns:a="http://schemas.openxmlformats.org/drawingml/2006/main">
              <a:ext uri="{FF2B5EF4-FFF2-40B4-BE49-F238E27FC236}">
                <a16:creationId xmlns:a16="http://schemas.microsoft.com/office/drawing/2014/main" id="{64AB7356-16F8-4CAE-A5AF-1DAF59C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328416"/>
            <a:ext cx="378561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&gt;80% enterprise κυκλοφορίας κρυπτογραφημένη, ελάχιστα TLS datasets</a:t>
            </a:r>
            <a:endParaRPr sz="1050"/>
          </a:p>
        </p:txBody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894A0FCF-A5BF-4A07-9DF8-454D8B27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13632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i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Τα 99%+ αποτελέσματα αντικατοπτρίζουν dataset-specific patterns — όχι πραγματική γενικευσιμότητα («closed world assumption», Sommer &amp; Paxson, 2010)</a:t>
            </a:r>
            <a:endParaRPr sz="115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274320" y="914400"/>
          <a:ext xmlns:a="http://schemas.openxmlformats.org/drawingml/2006/main" cx="4114800" cy="28346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4f3e33a76048cb"/>
          </a:graphicData>
        </a:graphic>
      </p:graphicFrame>
    </p:spTree>
    <p:extLst>
      <p:ext uri="{BB962C8B-B14F-4D97-AF65-F5344CB8AC3E}">
        <p14:creationId xmlns:p14="http://schemas.microsoft.com/office/powerpoint/2010/main" val="590751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EFEB95-B37C-4840-B58E-3FAA15C4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5C483A-D279-4517-B990-1D22BAA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"/>
            <a:ext cx="8412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Deployment Context &amp; SOC Architecture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828530-6D80-47AD-9AA0-13D416EB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38404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5D6410-D267-4266-978D-9C11B4A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EDGE / GATEWAY</a:t>
            </a:r>
            <a:endParaRPr sz="14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e873c5b3f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0240" y="1481328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BFEEFBB-6049-4BC7-ACA5-CFB931A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4560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CNN / DNN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01F7B-759B-4D25-9043-07C251A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3566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&lt;2ms ανά ροή, &lt;1MB RAM</a:t>
            </a:r>
            <a:endParaRPr sz="12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Πρωτοβάθμιο real-time φιλτράρισμα</a:t>
            </a:r>
            <a:endParaRPr sz="12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ARM-class CPU (Raspberry Pi)</a:t>
            </a:r>
            <a:endParaRPr sz="12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IoT gateways &amp; switches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6AE72F2-4F65-4349-A11F-BD95C58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44602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→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EEE838D-8EFB-46B9-B68B-C2702533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834640"/>
            <a:ext cx="1005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Suspicious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flows</a:t>
            </a:r>
            <a:endParaRPr sz="1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4FD1C43-3007-4475-ADD4-F201199B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960120"/>
            <a:ext cx="384048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12C87CE-3548-4A5F-90E6-F5B1533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960120"/>
            <a:ext cx="3840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SERVER / SIEM</a:t>
            </a:r>
            <a:endParaRPr sz="1400"/>
          </a:p>
        </p:txBody>
      </p:sp>
      <p:pic>
        <p:nvPicPr>
          <p:cNvPr id="3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ff77b852346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1490472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9AB0969-3F4B-4392-B3FD-2B6CEF18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194560"/>
            <a:ext cx="3657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Transformer (FlowTransformer, NIDS-GPT)</a:t>
            </a:r>
            <a:endParaRPr sz="13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AB2CE11-59E2-4ED2-8423-C1F5D00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06040"/>
            <a:ext cx="356616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Batch inference, deep inspection</a:t>
            </a:r>
            <a:endParaRPr sz="12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Long-range temporal dependencies</a:t>
            </a:r>
            <a:endParaRPr sz="12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Splunk / Elastic SIEM integration</a:t>
            </a:r>
            <a:endParaRPr sz="12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• APT &amp; multi-session επιθέσεις</a:t>
            </a:r>
            <a:endParaRPr sz="12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ADF5427-C64B-4129-9232-A80D62C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389120"/>
            <a:ext cx="8595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Το άρθρο υπαινίσσεται αυτή την αρχιτεκτονική χωρίς να την αναπτύσσει ρητά — πρακτική αξία για real enterprise deployment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6700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0F220C-1009-427A-A3E0-F76710A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9ADCC6-C117-493D-8E19-55AD2AD4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"/>
            <a:ext cx="8412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Σύγκριση με 6 Προηγούμενα Surveys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6A4E9-3B89-438F-BECC-44F0C484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68680"/>
            <a:ext cx="85953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A47AB4-3CB2-42CA-8CA6-D41E9DA4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886968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C2EDE6-3F78-44D7-B223-0409DDC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86968"/>
            <a:ext cx="1234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AE/GAN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B8046A-E252-4ED7-8EB9-F86FCD9D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886968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Transformer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A024877-A4D4-41F7-AE66-B2AAE391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88696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Fed./Hybrid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552758-A463-47D3-8531-42CA1962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86968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Κάλυψη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4F07D38-63AC-492D-A662-C7D785CC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8016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2681E7-B9D2-4371-B1A6-F2A606F9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29844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Lansky et al.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2021 [2]</a:t>
            </a:r>
            <a:endParaRPr sz="1100"/>
          </a:p>
        </p:txBody>
      </p:sp>
      <p:pic>
        <p:nvPicPr>
          <p:cNvPr id="8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132588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8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132588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8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132588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432818C-6C39-4381-89BA-86D25C5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2588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9/31</a:t>
            </a:r>
            <a:endParaRPr sz="11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F7F4B82B-960F-4114-AD21-F2E91293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8308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3AE60530-91DC-4C9F-8083-56D47CD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80136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Li et al.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2024 [3]</a:t>
            </a:r>
            <a:endParaRPr sz="1100"/>
          </a:p>
        </p:txBody>
      </p:sp>
      <p:pic>
        <p:nvPicPr>
          <p:cNvPr id="9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182880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9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182880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9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182880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EFC6901D-7AE2-4674-BFF9-78379C7F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~10/31</a:t>
            </a:r>
            <a:endParaRPr sz="1100"/>
          </a:p>
        </p:txBody>
      </p:sp>
      <p:sp>
        <p:nvSpPr>
          <p:cNvPr id="22" name="Shape 14">
            <a:extLst xmlns:a="http://schemas.openxmlformats.org/drawingml/2006/main">
              <a:ext uri="{FF2B5EF4-FFF2-40B4-BE49-F238E27FC236}">
                <a16:creationId xmlns:a16="http://schemas.microsoft.com/office/drawing/2014/main" id="{7B35B32F-D200-4C32-924A-18996EF4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8600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CAA9ACDD-EF7B-4F1A-B662-F862F4F9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0428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Yang et al.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2024 [4]</a:t>
            </a:r>
            <a:endParaRPr sz="1100"/>
          </a:p>
        </p:txBody>
      </p:sp>
      <p:pic>
        <p:nvPicPr>
          <p:cNvPr id="9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233172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9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233172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9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233172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204F5A21-A921-4DDB-8414-66A260B4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3172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DRL only</a:t>
            </a:r>
            <a:endParaRPr sz="1100"/>
          </a:p>
        </p:txBody>
      </p:sp>
      <p:sp>
        <p:nvSpPr>
          <p:cNvPr id="28" name="Shape 17">
            <a:extLst xmlns:a="http://schemas.openxmlformats.org/drawingml/2006/main">
              <a:ext uri="{FF2B5EF4-FFF2-40B4-BE49-F238E27FC236}">
                <a16:creationId xmlns:a16="http://schemas.microsoft.com/office/drawing/2014/main" id="{CBE39367-FEFD-446E-8AB6-710CD7AE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8892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18">
            <a:extLst xmlns:a="http://schemas.openxmlformats.org/drawingml/2006/main">
              <a:ext uri="{FF2B5EF4-FFF2-40B4-BE49-F238E27FC236}">
                <a16:creationId xmlns:a16="http://schemas.microsoft.com/office/drawing/2014/main" id="{39F58300-B42D-48CC-9507-8DE10A0C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80720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Issa et al.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2024 [5]</a:t>
            </a:r>
            <a:endParaRPr sz="1100"/>
          </a:p>
        </p:txBody>
      </p:sp>
      <p:pic>
        <p:nvPicPr>
          <p:cNvPr id="102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283464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0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283464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04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283464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3" name="Text 19">
            <a:extLst xmlns:a="http://schemas.openxmlformats.org/drawingml/2006/main">
              <a:ext uri="{FF2B5EF4-FFF2-40B4-BE49-F238E27FC236}">
                <a16:creationId xmlns:a16="http://schemas.microsoft.com/office/drawing/2014/main" id="{879349E7-D45F-4812-9EA2-DABC143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464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ML+DL</a:t>
            </a:r>
            <a:endParaRPr sz="1100"/>
          </a:p>
        </p:txBody>
      </p:sp>
      <p:sp>
        <p:nvSpPr>
          <p:cNvPr id="34" name="Shape 20">
            <a:extLst xmlns:a="http://schemas.openxmlformats.org/drawingml/2006/main">
              <a:ext uri="{FF2B5EF4-FFF2-40B4-BE49-F238E27FC236}">
                <a16:creationId xmlns:a16="http://schemas.microsoft.com/office/drawing/2014/main" id="{4012F96A-8823-4FD6-A66A-9DA642B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9184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21">
            <a:extLst xmlns:a="http://schemas.openxmlformats.org/drawingml/2006/main">
              <a:ext uri="{FF2B5EF4-FFF2-40B4-BE49-F238E27FC236}">
                <a16:creationId xmlns:a16="http://schemas.microsoft.com/office/drawing/2014/main" id="{87D4D2D9-F5BE-44AF-B175-3E85B2B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31012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Chinnasamy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2025 [6]</a:t>
            </a:r>
            <a:endParaRPr sz="1100"/>
          </a:p>
        </p:txBody>
      </p:sp>
      <p:pic>
        <p:nvPicPr>
          <p:cNvPr id="108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333756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09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333756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10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333756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39" name="Text 22">
            <a:extLst xmlns:a="http://schemas.openxmlformats.org/drawingml/2006/main">
              <a:ext uri="{FF2B5EF4-FFF2-40B4-BE49-F238E27FC236}">
                <a16:creationId xmlns:a16="http://schemas.microsoft.com/office/drawing/2014/main" id="{5DD5BF05-5BB9-44B7-BE83-ABB21F4A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756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87 papers</a:t>
            </a:r>
            <a:endParaRPr sz="1100"/>
          </a:p>
        </p:txBody>
      </p:sp>
      <p:sp>
        <p:nvSpPr>
          <p:cNvPr id="40" name="Shape 23">
            <a:extLst xmlns:a="http://schemas.openxmlformats.org/drawingml/2006/main">
              <a:ext uri="{FF2B5EF4-FFF2-40B4-BE49-F238E27FC236}">
                <a16:creationId xmlns:a16="http://schemas.microsoft.com/office/drawing/2014/main" id="{2C1BB29F-B6D8-4A57-98FB-4E5DA5C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9476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24">
            <a:extLst xmlns:a="http://schemas.openxmlformats.org/drawingml/2006/main">
              <a:ext uri="{FF2B5EF4-FFF2-40B4-BE49-F238E27FC236}">
                <a16:creationId xmlns:a16="http://schemas.microsoft.com/office/drawing/2014/main" id="{1FF74A7A-000A-4E2C-823C-0FBAEDD5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81304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Zhang et al.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2025 [7]</a:t>
            </a:r>
            <a:endParaRPr sz="1100"/>
          </a:p>
        </p:txBody>
      </p:sp>
      <p:pic>
        <p:nvPicPr>
          <p:cNvPr id="114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384048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15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384048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16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1919ec669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384048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45" name="Text 25">
            <a:extLst xmlns:a="http://schemas.openxmlformats.org/drawingml/2006/main">
              <a:ext uri="{FF2B5EF4-FFF2-40B4-BE49-F238E27FC236}">
                <a16:creationId xmlns:a16="http://schemas.microsoft.com/office/drawing/2014/main" id="{A004B9CA-9F27-4D39-A1F9-390ABC97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048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Spatiotempl.</a:t>
            </a:r>
            <a:endParaRPr sz="1100"/>
          </a:p>
        </p:txBody>
      </p:sp>
      <p:sp>
        <p:nvSpPr>
          <p:cNvPr id="46" name="Shape 26">
            <a:extLst xmlns:a="http://schemas.openxmlformats.org/drawingml/2006/main">
              <a:ext uri="{FF2B5EF4-FFF2-40B4-BE49-F238E27FC236}">
                <a16:creationId xmlns:a16="http://schemas.microsoft.com/office/drawing/2014/main" id="{AB4B4FEC-5C17-470E-BC8D-99F5C257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97680"/>
            <a:ext cx="85953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5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Text 27">
            <a:extLst xmlns:a="http://schemas.openxmlformats.org/drawingml/2006/main">
              <a:ext uri="{FF2B5EF4-FFF2-40B4-BE49-F238E27FC236}">
                <a16:creationId xmlns:a16="http://schemas.microsoft.com/office/drawing/2014/main" id="{99FE598E-FD4D-4F80-A2DB-4BE443E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315968"/>
            <a:ext cx="2148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Anis et al.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2025 ★</a:t>
            </a:r>
            <a:endParaRPr sz="1100"/>
          </a:p>
        </p:txBody>
      </p:sp>
      <p:pic>
        <p:nvPicPr>
          <p:cNvPr id="120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7228" y="434340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21" name="Imag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7408" y="4343400"/>
            <a:ext cx="347472" cy="347472"/>
          </a:xfrm>
          <a:prstGeom xmlns:a="http://schemas.openxmlformats.org/drawingml/2006/main" prst="rect">
            <a:avLst/>
          </a:prstGeom>
        </p:spPr>
      </p:pic>
      <p:pic>
        <p:nvPicPr>
          <p:cNvPr id="122" name="Imag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3c685fc3b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434340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1" name="Text 28">
            <a:extLst xmlns:a="http://schemas.openxmlformats.org/drawingml/2006/main">
              <a:ext uri="{FF2B5EF4-FFF2-40B4-BE49-F238E27FC236}">
                <a16:creationId xmlns:a16="http://schemas.microsoft.com/office/drawing/2014/main" id="{676A023F-DDF9-4EDA-84F5-3EAE2C48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43400"/>
            <a:ext cx="1691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31 papers</a:t>
            </a:r>
            <a:endParaRPr sz="1100"/>
          </a:p>
        </p:txBody>
      </p:sp>
      <p:sp>
        <p:nvSpPr>
          <p:cNvPr id="52" name="Text 29">
            <a:extLst xmlns:a="http://schemas.openxmlformats.org/drawingml/2006/main">
              <a:ext uri="{FF2B5EF4-FFF2-40B4-BE49-F238E27FC236}">
                <a16:creationId xmlns:a16="http://schemas.microsoft.com/office/drawing/2014/main" id="{2F717340-7B61-4020-9A92-334F1E75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28032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B4F72"/>
                </a:solidFill>
                <a:latin typeface="Calibri"/>
                <a:ea typeface="Calibri"/>
                <a:cs typeface="Calibri"/>
              </a:rPr>
              <a:t>Μοναδικό survey που καλύπτει ταυτόχρονα AE/GAN + Transformers + Federated NIDS (2025)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136872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3129E4B-3C68-4A38-BDFF-FCB2607F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B79EA0-FEFF-4320-86DB-FCE9ECA8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"/>
            <a:ext cx="8412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Πλεονεκτήματα &amp; Συνεισφορά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7A8C428-56BD-4655-BCFA-32404A81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416052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f512c091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1097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95A25F6-9492-46A1-BB16-0D659D34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Πρωτότυπη Ταξινομία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AEA2476-88FD-4455-B5D2-9CFB1DA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81912"/>
            <a:ext cx="39319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Ταξινόμηση βάσει θεμελιώδους υπόθεσης (όχι απλώς αρχιτεκτονική) — αναδεικνύει ότι η επιλογή μοντέλου αντικατοπτρίζει το threat model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F83E538-607B-4F33-A5F2-25B83AC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60120"/>
            <a:ext cx="416052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f512c091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0" y="1097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68195CB0-F804-4329-B46C-4F63789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09728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Cross-study Σύνθεση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76C4AAD-5A6B-403F-A4A9-3D0E8960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581912"/>
            <a:ext cx="39319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Παράθεση datasets, αποτελεσμάτων και deployment cost για 31 μελέτες — χρήσιμο πλαίσιο τόσο για ερευνητές όσο και για μηχανικούς</a:t>
            </a:r>
            <a:endParaRPr sz="12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2706D25-AD9D-407D-BE45-EA28091A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34640"/>
            <a:ext cx="416052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f512c091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" y="29718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7A8C704-935B-4EF0-B2A1-C1C9ECE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Federated Learning Coverage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F212A742-7A6D-48E4-B379-2925E086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456432"/>
            <a:ext cx="39319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Πειραματικά αποτελέσματα σε Raspberry Pi. Το FL αποτελεί πιθανή επιλογή όταν δεν επιτρέπεται η συγκέντρωση raw traffic, αλλά απαιτεί επιπλέον privacy και security controls.</a:t>
            </a:r>
            <a:endParaRPr sz="12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A949443F-4313-4CAD-B2C4-B866FF5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34640"/>
            <a:ext cx="416052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f512c091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2040" y="29718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4D8CA30-E279-42CA-8F83-3EAD6075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971800"/>
            <a:ext cx="3429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Πρακτικές Οδηγίες Deployment</a:t>
            </a:r>
            <a:endParaRPr sz="13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AC76B2E-500E-4F03-A83A-2A1149D3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456432"/>
            <a:ext cx="393192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Ρητή διάκριση: CNN για edge real-time (&lt;2ms), Transformer για server deep inspection — σπάνιο σε αντίστοιχα surveys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23535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0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62FCB7-A72B-4883-8D56-4BA85C44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da98df6f346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09728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34F5254-BD75-4569-A0D3-9946500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"/>
            <a:ext cx="79552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Κριτική — Αδυναμίες του Άρθρου</a:t>
            </a:r>
            <a:endParaRPr sz="22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4102B50-E662-4E15-81B3-DEC2A824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41605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5582075-8D5B-4759-9AD1-C2C0C8DD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10972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926B1D0-1F86-4B8B-A1B5-F3717CD8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00584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★★★ Υψηλή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E62033D-6538-45C7-B1C6-99662B2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252728"/>
            <a:ext cx="3913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Ελλιπής μεθοδολογική τεκμηρίωση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325D6F-F433-4C48-9E18-5403184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581912"/>
            <a:ext cx="391363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Δεν ακολουθεί PRISMA. </a:t>
            </a: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Απουσιάζουν</a:t>
            </a: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: databases, keywords, πλήθος αξιολογηθέντων papers. Αδύνατη αναπαραγωγή.</a:t>
            </a:r>
            <a:endParaRPr sz="11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B6682A-50FF-485C-8E98-C447269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60120"/>
            <a:ext cx="41605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84AA65A-BD00-4446-9C3C-A7FEE2F2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60120"/>
            <a:ext cx="10972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BF688DF-FB87-4C1E-8A02-53DD2086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00584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★★★ Υψηλή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91FBA7A-D401-45BC-A9B9-E030A46B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252728"/>
            <a:ext cx="3913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Χωρίς κριτική στα αποτελέσματα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6A6726E-B46A-4C5C-827F-C5ACD1C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581912"/>
            <a:ext cx="391363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Ακρίβειες 99%+ σε NSL-KDD (data leakage) ή CIC-IDS2017 (τεχνητά patterns) δεν αμφισβητούνται.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46972F9-29E2-42DD-9FFF-38DABB3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31720"/>
            <a:ext cx="41605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4C0E23F-5ACF-4618-9277-D098ED4F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31720"/>
            <a:ext cx="10972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2FD44A4-A1FB-4D6F-99BA-7460B2D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37744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★★★ Υψηλή</a:t>
            </a:r>
            <a:endParaRPr sz="1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BE439B-AB0E-4EEB-AF0B-57D65143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624328"/>
            <a:ext cx="3913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Ελλιπής adversarial αξιολόγηση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C933D2D-6254-4143-B92B-31EFF396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953512"/>
            <a:ext cx="391363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Το corpus περιλαμβάνει adversarial attack generation, αλλά δεν προσφέρει ενιαίο robustness benchmark ούτε συστηματική σύγκριση defenses.</a:t>
            </a:r>
            <a:endParaRPr sz="11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8848815-ABC5-4800-B2A5-2B04741C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31720"/>
            <a:ext cx="41605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2A506D6-D163-4798-A82A-6AF19528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31720"/>
            <a:ext cx="10972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81ACEAD-A210-401D-B5B4-2F445449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37744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★★ Μέτρια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DA180F4-EEA7-4A3C-A547-E9038B8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624328"/>
            <a:ext cx="3913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Ψευδώς «ανοιχτές» κατευθύνσεις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0FDC734-189F-4193-B6C9-8CC9BCAE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953512"/>
            <a:ext cx="391363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Continual learning, adversarial training ήδη ερευνώνται (2023–2025). Δεν γίνεται η διάκριση «ανοιχτό» vs «εκτός corpus».</a:t>
            </a:r>
            <a:endParaRPr sz="11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3BCC5F2-F94C-442A-A3A6-EF809179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03320"/>
            <a:ext cx="41605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B350AFE-B774-4B1A-83BF-BD50F20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703320"/>
            <a:ext cx="10972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CBCD8BA-3380-424F-B0B3-0EB76504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74904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★★ Μέτρια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6F60FFE-61E3-4CC2-8277-16F7C8E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3995928"/>
            <a:ext cx="3913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Ελάχιστα TLS/κρυπτογρ. papers</a:t>
            </a:r>
            <a:endParaRPr sz="12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61476CF-E337-4DC5-9A8C-E31C8804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4325112"/>
            <a:ext cx="391363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Μόνο 2–3/31 αξιολογούνται αποκλειστικά σε κρυπτογραφημένα δεδομένα, ενώ &gt;80% enterprise είναι TLS.</a:t>
            </a:r>
            <a:endParaRPr sz="11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BFD00AE4-2457-47B9-A8BE-3F3C32B6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03320"/>
            <a:ext cx="4160520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A9ECEBDC-4F43-4DE5-9492-003BE56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03320"/>
            <a:ext cx="109728" cy="1261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F30FA01-B6C1-410D-8DBD-559BF01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74904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★ Χαμηλή</a:t>
            </a:r>
            <a:endParaRPr sz="10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CC7173D4-714D-4F19-811F-B79BB577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995928"/>
            <a:ext cx="3913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Πιθανός selection bias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A035A36-F0BB-4E65-931E-33C2E8B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4325112"/>
            <a:ext cx="391363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31 papers χωρίς τεκμηριωμένα κριτήρια — ενδεχόμενη επιλογή papers με θετικά αποτελέσματα.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6519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B2AF44-1497-4E90-A63C-E8DBACC6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B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2DC7D-0806-4846-A211-AC73B785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"/>
            <a:ext cx="8412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Ανοιχτές Ερευνητικές Κατευθύνσεις</a:t>
            </a:r>
            <a:endParaRPr sz="2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9EF3878-07C9-43CA-9981-C08A0829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76444B3-7102-48C7-8D75-D8126913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69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ABE115-1075-417C-BC65-1FE547D0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698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26B290-E676-41CF-9AD3-7A9816B7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97280"/>
            <a:ext cx="208483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Dataset Quality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362A73-F450-44CF-9CDD-112111EC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18488"/>
            <a:ext cx="263347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GAN/VAE augmentation σπάνιων κλάσεων · Domain adaptation · Cross-dataset evaluation ως standard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CD03261-A50D-4058-B6C0-6B4413F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6012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F58964B-FEC5-4E60-8BC3-4BB5E44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069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7CE7CC-6FD8-4850-9676-799563DC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0698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B96DE5-7FDB-4342-B09C-2E5680E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097280"/>
            <a:ext cx="208483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Real-time Deployment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18F78EA-17F1-40EB-8C4F-1119D559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18488"/>
            <a:ext cx="263347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Model compression (pruning, quantization, distillation) · FPGA acceleration · Unified throughput/latency benchmarks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055128E-38A4-4127-8063-4F007251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96012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A7ECAE2-44C4-4F5C-AA1A-5EBE7B7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069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787A5F-AE65-4BDB-BAA4-762B1EBF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0698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327395-7C76-480A-B564-CF8E90B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097280"/>
            <a:ext cx="208483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Adversarial Robustness ⚠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212887-053F-4CFE-8F11-7A702AB4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18488"/>
            <a:ext cx="263347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Adversarial training · Feature hardening · GAN-based traffic generation για exposure αδυναμιών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2051D82-FFFA-4F60-BC01-7823FE3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2608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9AE4003-EDE3-4A96-9D5A-3FFE521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7B6FB-3E7A-440E-B722-96C30FE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358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E39DDD-E79C-40EE-80D2-9BC33B57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3240"/>
            <a:ext cx="208483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Federated Privacy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4556441-43A5-4EEC-B5E8-88F46CB4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84448"/>
            <a:ext cx="263347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Differential privacy · Secure multi-party computation · Privacy vs accuracy trade-off (αδιερεύνητος)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B4ECCB3-FF47-471E-A3DD-53EDBA8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2608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59C6D91-BA0F-4448-8E73-6F991110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EADA4F0-9980-4F71-833D-0692386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358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211B3F8-FDC2-485E-A86F-DFF9438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063240"/>
            <a:ext cx="208483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Ερμηνευσιμότητα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8E8C178-4A74-4B04-8189-2BF2E2CB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84448"/>
            <a:ext cx="263347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SHAP/LIME με προσοχή στους περιορισμούς τους · Attention visualization ≠ faithfulness guarantee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C8FD3B9-F774-415C-BF49-EE55030F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926080"/>
            <a:ext cx="278892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3F4B118-C2F8-4119-A73F-213D49D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AEB89E7-0AF9-4D18-999E-CB6F9FD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358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6</a:t>
            </a:r>
            <a:endParaRPr sz="1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413DD42-B9B2-48D1-A18A-4DBFF452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63240"/>
            <a:ext cx="208483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Zero-Trust &amp; Concept Drift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E0DFB8C-7F71-4F64-A7D2-9512C565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84448"/>
            <a:ext cx="2633472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NIDS ως continuous verifier · Continual learning για model staleness (ήδη υπάρχουν εργασίες 2023–25)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404374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0EA45A-BA4A-40EC-A82A-55054693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4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C2BBED-061D-4CAF-B78A-73AFDE3F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"/>
            <a:ext cx="84124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Συμπέρασμα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47A200-C574-484B-8A90-60DF177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859536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effectLst xmlns:a="http://schemas.openxmlformats.org/drawingml/2006/main"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346EC0-6E8A-4612-BEC4-406A880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4128"/>
            <a:ext cx="82296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«Ο δρόμος από ένα μοντέλο με 99% ακρίβεια σε dataset ως ένα σύστημα που προστατεύει αξιόπιστα ένα adversarial, κρυπτογραφημένο δίκτυο παραμένει μεγάλος.»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968C16A-F7DF-4507-90B5-24E13BC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04288"/>
            <a:ext cx="85953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1EC69AE-6662-4DCA-B242-88B28C56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304288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ba6d663f2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46888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91D11F-BF0F-4268-853B-B860219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5915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7AE60"/>
                </a:solidFill>
                <a:latin typeface="Calibri"/>
                <a:ea typeface="Calibri"/>
                <a:cs typeface="Calibri"/>
              </a:rPr>
              <a:t>Αξία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5101DD6-B43E-4A73-AE6B-2C20B62B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88336"/>
            <a:ext cx="7772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Πρωτότυπη ταξινομία 4 κατηγοριών · FL coverage · Deployment-aware σύγκριση — χρήσιμο για ερευνητές &amp; μηχανικούς</a:t>
            </a:r>
            <a:endParaRPr sz="12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C096CA0-C0DB-4060-AEA9-8AF43FC3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27248"/>
            <a:ext cx="85953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943BD82-6809-46A0-82DA-D75BC3E1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27248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a840ff6244f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29184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D26232-8302-4DC5-BCCB-3032B3B3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8211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Αδυναμία</a:t>
            </a:r>
            <a:endParaRPr sz="1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3386827-F85A-46E2-B60B-A8061FC0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11296"/>
            <a:ext cx="7772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Απουσία PRISMA · Αδύνατη αναπαραγωγή · 99%+ ακρίβειες σε εργαστηριακά datasets δεν επαρκούν</a:t>
            </a:r>
            <a:endParaRPr sz="12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7EAB0F2-B5A6-4AF8-864D-5E7CD30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50208"/>
            <a:ext cx="85953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7436D5B-0A7A-46A8-A7A1-4AD76224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50208"/>
            <a:ext cx="109728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9854dad1c43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114800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12AE02E5-0955-4619-BF11-7748818C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0507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Το Κρίσιμο Κενό</a:t>
            </a:r>
            <a:endParaRPr sz="13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11968BF-26A4-47D4-9E7B-F57F178B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34256"/>
            <a:ext cx="7772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8F1F5"/>
                </a:solidFill>
                <a:latin typeface="Calibri"/>
                <a:ea typeface="Calibri"/>
                <a:cs typeface="Calibri"/>
              </a:rPr>
              <a:t>Adversarial robustness + TLS-aware evaluation + FPR σε παραγωγική κλίμακα = αδιερεύνητος τομέας</a:t>
            </a:r>
            <a:endParaRPr sz="1200"/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60157999-6E16-4CB9-96CA-4B239B7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46320"/>
            <a:ext cx="8595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B8CA0"/>
                </a:solidFill>
                <a:latin typeface="Calibri"/>
                <a:ea typeface="Calibri"/>
                <a:cs typeface="Calibri"/>
              </a:rPr>
              <a:t>Γρουζτίδης · Χριστάρας  |  Προηγμένα Θέματα Δικτύωσης 2025-2026  |  ICSD, Πανεπιστήμιο Αιγαίου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007880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ference-header">
            <a:extLst xmlns:a="http://schemas.openxmlformats.org/drawingml/2006/main">
              <a:ext uri="{FF2B5EF4-FFF2-40B4-BE49-F238E27FC236}">
                <a16:creationId xmlns:a16="http://schemas.microsoft.com/office/drawing/2014/main" id="{9A48DF78-E20D-475A-9817-E0CB3336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reference-title">
            <a:extLst xmlns:a="http://schemas.openxmlformats.org/drawingml/2006/main">
              <a:ext uri="{FF2B5EF4-FFF2-40B4-BE49-F238E27FC236}">
                <a16:creationId xmlns:a16="http://schemas.microsoft.com/office/drawing/2014/main" id="{2F80D90D-D6C4-4278-BE05-AF124632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Βιβλιογραφία 1</a:t>
            </a:r>
          </a:p>
        </p:txBody>
      </p:sp>
      <p:sp>
        <p:nvSpPr>
          <p:cNvPr id="3" name="reference-column-1">
            <a:extLst xmlns:a="http://schemas.openxmlformats.org/drawingml/2006/main">
              <a:ext uri="{FF2B5EF4-FFF2-40B4-BE49-F238E27FC236}">
                <a16:creationId xmlns:a16="http://schemas.microsoft.com/office/drawing/2014/main" id="{9D5EB122-3B9D-42D4-A06A-FA03328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3905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[1] Anis, F. M. et al. A Survey on the Applications of Deep Learning in Network Intrusion Detection Systems to Enhance Network Security. IEEE Access, 2025. DOI: 10.1109/ACCESS.2025.3624952.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[2] Lansky, J. et al. Deep learning-based intrusion detection systems: A systematic review. IEEE Access 9, 2021. DOI: 10.1109/ACCESS.2021.3097247.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[3] Li, Z. et al. Toward deep learning based intrusion detection system: A survey. BDE 2024. DOI: 10.1145/3688574.3688578.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[4] Yang, W. et al. A survey for deep reinforcement learning based network intrusion detection. arXiv:2410.07612, 2024.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[5] Issa, M. M. et al. Systematic literature review on intrusion detection systems. Journal of Intelligent Systems 33(1), 2024. DOI: 10.1515/jisys-2023-0248.</a:t>
            </a:r>
          </a:p>
        </p:txBody>
      </p:sp>
      <p:sp>
        <p:nvSpPr>
          <p:cNvPr id="4" name="reference-column-2">
            <a:extLst xmlns:a="http://schemas.openxmlformats.org/drawingml/2006/main">
              <a:ext uri="{FF2B5EF4-FFF2-40B4-BE49-F238E27FC236}">
                <a16:creationId xmlns:a16="http://schemas.microsoft.com/office/drawing/2014/main" id="{5A7C8E06-0F0A-4964-8326-B533EB7B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28700"/>
            <a:ext cx="3905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[6] Chinnasamy, R. et al. Deep learning-driven methods for network-based intrusion detection systems: A systematic review. ICT Express 11(1), 2025. DOI: 10.1016/j.icte.2025.01.005.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[7] Zhang, Y. et al. A review of deep learning applications in intrusion detection systems. Applied Sciences 15(3), 2025. DOI: 10.3390/app15031552.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[8] Manocchio, L. D. et al. FlowTransformer: A transformer framework for flow-based NIDS. Expert Systems with Applications 241, 2024. DOI: 10.1016/j.eswa.2023.122564.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[9] IBM Security. Cost of a Data Breach Report 2024. IBM, 2024.</a:t>
            </a:r>
          </a:p>
        </p:txBody>
      </p:sp>
      <p:sp>
        <p:nvSpPr>
          <p:cNvPr id="5" name="reference-footer">
            <a:extLst xmlns:a="http://schemas.openxmlformats.org/drawingml/2006/main">
              <a:ext uri="{FF2B5EF4-FFF2-40B4-BE49-F238E27FC236}">
                <a16:creationId xmlns:a16="http://schemas.microsoft.com/office/drawing/2014/main" id="{4834338B-8332-47E5-B5D4-6B9C4DE3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758A"/>
                </a:solidFill>
                <a:latin typeface="Arial"/>
                <a:ea typeface="Arial"/>
                <a:cs typeface="Arial"/>
              </a:rPr>
              <a:t>Γρουζτίδης · Χριστάρας  |  Αναφορές 1-9</a:t>
            </a:r>
          </a:p>
        </p:txBody>
      </p:sp>
    </p:spTree>
    <p:extLst>
      <p:ext uri="{BB962C8B-B14F-4D97-AF65-F5344CB8AC3E}">
        <p14:creationId xmlns:p14="http://schemas.microsoft.com/office/powerpoint/2010/main" val="9133802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E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ference-header">
            <a:extLst xmlns:a="http://schemas.openxmlformats.org/drawingml/2006/main">
              <a:ext uri="{FF2B5EF4-FFF2-40B4-BE49-F238E27FC236}">
                <a16:creationId xmlns:a16="http://schemas.microsoft.com/office/drawing/2014/main" id="{B5C20D4D-359C-46C2-AB96-8E5E861B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reference-title">
            <a:extLst xmlns:a="http://schemas.openxmlformats.org/drawingml/2006/main">
              <a:ext uri="{FF2B5EF4-FFF2-40B4-BE49-F238E27FC236}">
                <a16:creationId xmlns:a16="http://schemas.microsoft.com/office/drawing/2014/main" id="{177B0C55-440B-4FED-B108-2E972DC0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830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Βιβλιογραφία — συνέχεια</a:t>
            </a:r>
          </a:p>
        </p:txBody>
      </p:sp>
      <p:sp>
        <p:nvSpPr>
          <p:cNvPr id="3" name="reference-column-1">
            <a:extLst xmlns:a="http://schemas.openxmlformats.org/drawingml/2006/main">
              <a:ext uri="{FF2B5EF4-FFF2-40B4-BE49-F238E27FC236}">
                <a16:creationId xmlns:a16="http://schemas.microsoft.com/office/drawing/2014/main" id="{9EEC9E0B-AA56-4AD3-8D4B-D0F9745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3905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[10] Mell, P. Guide to Intrusion Detection and Prevention Systems. NIST SP 800-94, 2007.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[11] Sharafaldin, I. et al. Toward generating a new intrusion detection dataset and intrusion traffic characterization. ICISSP, 2018.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[12] Moustafa, N. and Slay, J. UNSW-NB15: A comprehensive data set for NIDS. MilCIS, 2015. DOI: 10.1109/MilCIS.2015.7348942.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[13] Ashraf, J. et al. LSTM autoencoder architecture for anomalous events in intelligent transportation systems. IEEE Transactions on ITS 22(7), 2020.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[14] Sommer, R. and Paxson, V. Outside the closed world: On using machine learning for network intrusion detection. IEEE S&amp;P, 2010. DOI: 10.1109/SP.2010.25.</a:t>
            </a:r>
          </a:p>
        </p:txBody>
      </p:sp>
      <p:sp>
        <p:nvSpPr>
          <p:cNvPr id="4" name="reference-column-2">
            <a:extLst xmlns:a="http://schemas.openxmlformats.org/drawingml/2006/main">
              <a:ext uri="{FF2B5EF4-FFF2-40B4-BE49-F238E27FC236}">
                <a16:creationId xmlns:a16="http://schemas.microsoft.com/office/drawing/2014/main" id="{D8A481AF-EF96-401E-867E-915D4A75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28700"/>
            <a:ext cx="3905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[15] Vaswani, A. et al. Attention Is All You Need. NeurIPS 30, 2017. arXiv:1706.03762.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[16] McMahan, H. B. et al. Communication-Efficient Learning of Deep Networks from Decentralized Data. AISTATS, 2017.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[17] Lundberg, S. M. and Lee, S.-I. A Unified Approach to Interpreting Model Predictions. NeurIPS 30, 2017.</a:t>
            </a:r>
          </a:p>
          <a:p xmlns:a="http://schemas.openxmlformats.org/drawingml/2006/main">
            <a:pPr>
              <a:spcAft>
                <a:spcPts val="700"/>
              </a:spcAft>
              <a:defRPr sz="1163">
                <a:solidFill>
                  <a:srgbClr val="132638"/>
                </a:solidFill>
                <a:latin typeface="Arial"/>
                <a:ea typeface="Arial"/>
                <a:cs typeface="Arial"/>
              </a:defRPr>
            </a:pPr>
            <a:r>
              <a:t>[18] Papernot, N. et al. The Limitations of Deep Learning in Adversarial Settings. IEEE EuroS&amp;P, 2016.</a:t>
            </a:r>
          </a:p>
        </p:txBody>
      </p:sp>
      <p:sp>
        <p:nvSpPr>
          <p:cNvPr id="5" name="reference-footer">
            <a:extLst xmlns:a="http://schemas.openxmlformats.org/drawingml/2006/main">
              <a:ext uri="{FF2B5EF4-FFF2-40B4-BE49-F238E27FC236}">
                <a16:creationId xmlns:a16="http://schemas.microsoft.com/office/drawing/2014/main" id="{C4D9BF99-C674-44E3-8DA1-50C8385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758A"/>
                </a:solidFill>
                <a:latin typeface="Arial"/>
                <a:ea typeface="Arial"/>
                <a:cs typeface="Arial"/>
              </a:rPr>
              <a:t>Γρουζτίδης · Χριστάρας  |  Αναφορές 10-18</a:t>
            </a:r>
          </a:p>
        </p:txBody>
      </p:sp>
    </p:spTree>
    <p:extLst>
      <p:ext uri="{BB962C8B-B14F-4D97-AF65-F5344CB8AC3E}">
        <p14:creationId xmlns:p14="http://schemas.microsoft.com/office/powerpoint/2010/main" val="199799639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/>
  <cp:lastModifiedBy/>
  <dc:title>Deep Learning for Network Intrusion Detection: A Critical Review</dc:title>
  <dcterms:created xsi:type="dcterms:W3CDTF">2026-10-14T19:08:58.4420000Z</dcterms:created>
  <dcterms:modified xsi:type="dcterms:W3CDTF">2026-10-14T19:08:58.4420000Z</dcterms:modified>
  <dc:subject>Critical review of deep-learning approaches for network intrusion detection</dc:subject>
  <cp:keywords>network intrusion detection; deep learning; cybersecurity; critical review</cp:keywords>
</cp:coreProperties>
</file>